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02F"/>
                </a:solidFill>
              </a:rPr>
              <a:t>ANERVEA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Nexus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02F"/>
                </a:solidFill>
              </a:rPr>
              <a:t>NEX Sprint 2 CLOSURE  ·  NEX Sprint 3 KICKOFF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8C8BA"/>
                </a:solidFill>
              </a:rPr>
              <a:t>NEX Sprint 2:  2026-06-30 – 2026-07-07</a:t>
            </a:r>
          </a:p>
          <a:p>
            <a:pPr algn="l"/>
            <a:r>
              <a:rPr sz="1300" b="0">
                <a:solidFill>
                  <a:srgbClr val="D8C8BA"/>
                </a:solidFill>
              </a:rPr>
              <a:t>NEX Sprint 3:  2026-07-07 – 2026-07-14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4023360"/>
            <a:ext cx="2556433" cy="1737360"/>
          </a:xfrm>
          <a:prstGeom prst="rect">
            <a:avLst/>
          </a:prstGeom>
          <a:solidFill>
            <a:srgbClr val="3A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206240"/>
            <a:ext cx="209923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702F"/>
                </a:solidFill>
              </a:rPr>
              <a:t>COMPLETED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197</a:t>
            </a:r>
          </a:p>
          <a:p>
            <a:pPr algn="l"/>
            <a:r>
              <a:rPr sz="1200" b="0">
                <a:solidFill>
                  <a:srgbClr val="C9B8A8"/>
                </a:solidFill>
              </a:rPr>
              <a:t>NEX Sprint 2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5113" y="4023360"/>
            <a:ext cx="2556433" cy="1737360"/>
          </a:xfrm>
          <a:prstGeom prst="rect">
            <a:avLst/>
          </a:prstGeom>
          <a:solidFill>
            <a:srgbClr val="3A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3713" y="4206240"/>
            <a:ext cx="209923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702F"/>
                </a:solidFill>
              </a:rPr>
              <a:t>CARRY-OVER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154</a:t>
            </a:r>
          </a:p>
          <a:p>
            <a:pPr algn="l"/>
            <a:r>
              <a:rPr sz="1200" b="0">
                <a:solidFill>
                  <a:srgbClr val="C9B8A8"/>
                </a:solidFill>
              </a:rPr>
              <a:t>into NEX Sprint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6" y="4023360"/>
            <a:ext cx="2556433" cy="1737360"/>
          </a:xfrm>
          <a:prstGeom prst="rect">
            <a:avLst/>
          </a:prstGeom>
          <a:solidFill>
            <a:srgbClr val="3A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8746" y="4206240"/>
            <a:ext cx="209923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702F"/>
                </a:solidFill>
              </a:rPr>
              <a:t>NEW WORK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47</a:t>
            </a:r>
          </a:p>
          <a:p>
            <a:pPr algn="l"/>
            <a:r>
              <a:rPr sz="1200" b="0">
                <a:solidFill>
                  <a:srgbClr val="C9B8A8"/>
                </a:solidFill>
              </a:rPr>
              <a:t>NEX Sprint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95179" y="4023360"/>
            <a:ext cx="2556433" cy="1737360"/>
          </a:xfrm>
          <a:prstGeom prst="rect">
            <a:avLst/>
          </a:prstGeom>
          <a:solidFill>
            <a:srgbClr val="3A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23779" y="4206240"/>
            <a:ext cx="2099233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702F"/>
                </a:solidFill>
              </a:rPr>
              <a:t>PROJECTS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1</a:t>
            </a:r>
          </a:p>
          <a:p>
            <a:pPr algn="l"/>
            <a:r>
              <a:rPr sz="1200" b="0">
                <a:solidFill>
                  <a:srgbClr val="C9B8A8"/>
                </a:solidFill>
              </a:rPr>
              <a:t>covered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B8A8"/>
                </a:solidFill>
              </a:rPr>
              <a:t>CONFIDENTIAL · 09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SPRINT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E1A0E"/>
                </a:solidFill>
              </a:rPr>
              <a:t>NEX Sprint 2 — Closure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828800"/>
            <a:ext cx="3484778" cy="173736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302757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TICKETS COMPLETED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197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NEX Sprint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3458" y="1828800"/>
            <a:ext cx="3484778" cy="173736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2011680"/>
            <a:ext cx="302757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CARRY-OVER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154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into NEX Sprint 3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6836" y="1828800"/>
            <a:ext cx="3484778" cy="173736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5436" y="2011680"/>
            <a:ext cx="3027578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NEW SPRINT WORK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47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NEX Sprint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PROJECTS COVERED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10911535" cy="109728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389120"/>
            <a:ext cx="104543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NEXUS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197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tickets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5577840"/>
            <a:ext cx="10911535" cy="731520"/>
          </a:xfrm>
          <a:prstGeom prst="rect">
            <a:avLst/>
          </a:prstGeom>
          <a:solidFill>
            <a:srgbClr val="2E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669280"/>
            <a:ext cx="104543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E6D6C8"/>
                </a:solidFill>
              </a:rPr>
              <a:t>NOTE   Team velocity: 197 tickets closed in NEX Sprint 2. 154 carry-overs into NEX Sprint 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197 TICKETS · 1 PROJECT(S)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E1A0E"/>
                </a:solidFill>
              </a:rPr>
              <a:t>NEX Sprint 2 — Completed Work by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10911535" cy="237744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1045433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NEXUS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197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100.0% of sprint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SPRINT KICKOFF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E1A0E"/>
                </a:solidFill>
              </a:rPr>
              <a:t>NEX Sprint 3 — Committed Work (395 tickets)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194560"/>
            <a:ext cx="2556433" cy="237744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377440"/>
            <a:ext cx="2099233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STORIES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341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tickets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5113" y="2194560"/>
            <a:ext cx="2556433" cy="237744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3713" y="2377440"/>
            <a:ext cx="2099233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TASKS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6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tickets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0146" y="2194560"/>
            <a:ext cx="2556433" cy="237744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8746" y="2377440"/>
            <a:ext cx="2099233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BUGS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45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tickets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95179" y="2194560"/>
            <a:ext cx="2556433" cy="237744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3779" y="2377440"/>
            <a:ext cx="2099233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OTHER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3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tickets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TEAM · ASSIGNEE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E1A0E"/>
                </a:solidFill>
              </a:rPr>
              <a:t>Team Performance — NEX Sprint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10911535" cy="685800"/>
          </a:xfrm>
          <a:prstGeom prst="rect">
            <a:avLst/>
          </a:prstGeom>
          <a:solidFill>
            <a:srgbClr val="2E1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27632"/>
            <a:ext cx="10454335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TOP CONTRIBUTOR    Allen Mathew Cordero · 16 completed of 25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46888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5943600"/>
                <a:gridCol w="1554480"/>
                <a:gridCol w="1737360"/>
                <a:gridCol w="1371600"/>
              </a:tblGrid>
              <a:tr h="7010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B553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Engineer</a:t>
                      </a:r>
                    </a:p>
                  </a:txBody>
                  <a:tcPr>
                    <a:solidFill>
                      <a:srgbClr val="B553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Tickets</a:t>
                      </a:r>
                    </a:p>
                  </a:txBody>
                  <a:tcPr>
                    <a:solidFill>
                      <a:srgbClr val="B553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B553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% Total</a:t>
                      </a:r>
                    </a:p>
                  </a:txBody>
                  <a:tcPr>
                    <a:solidFill>
                      <a:srgbClr val="B5531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Allen Mathew Cordero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6.9%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Deinielle Cruz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4.2%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Dan Rudolf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Shane Michael Singwa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3.1%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Dan Denver De Leon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0.6%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TEAM · TICKET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E1A0E"/>
                </a:solidFill>
              </a:rPr>
              <a:t>Ticket Breakdown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1737360"/>
                <a:gridCol w="1828800"/>
                <a:gridCol w="1737360"/>
              </a:tblGrid>
              <a:tr h="47026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Team Member</a:t>
                      </a:r>
                    </a:p>
                  </a:txBody>
                  <a:tcPr>
                    <a:solidFill>
                      <a:srgbClr val="B553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Assigned</a:t>
                      </a:r>
                    </a:p>
                  </a:txBody>
                  <a:tcPr>
                    <a:solidFill>
                      <a:srgbClr val="B553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Completed</a:t>
                      </a:r>
                    </a:p>
                  </a:txBody>
                  <a:tcPr>
                    <a:solidFill>
                      <a:srgbClr val="B5531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Incomplete</a:t>
                      </a:r>
                    </a:p>
                  </a:txBody>
                  <a:tcPr>
                    <a:solidFill>
                      <a:srgbClr val="B5531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Allen Mathew Cordero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16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Deinielle Cruz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15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Dan Rudolf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10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Shane Michael Singwa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11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Dan Denver De Leon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BF6E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64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36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E1A0E"/>
                          </a:solidFill>
                        </a:rPr>
                        <a:t>28</a:t>
                      </a:r>
                    </a:p>
                  </a:txBody>
                  <a:tcPr>
                    <a:solidFill>
                      <a:srgbClr val="F7ECE4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40080" y="5120640"/>
            <a:ext cx="2556433" cy="1097280"/>
          </a:xfrm>
          <a:prstGeom prst="rect">
            <a:avLst/>
          </a:prstGeom>
          <a:solidFill>
            <a:srgbClr val="3A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303520"/>
            <a:ext cx="209923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702F"/>
                </a:solidFill>
              </a:rPr>
              <a:t>TOTAL ASSIGNED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64</a:t>
            </a:r>
          </a:p>
          <a:p>
            <a:pPr algn="l"/>
            <a:r>
              <a:rPr sz="1200" b="0">
                <a:solidFill>
                  <a:srgbClr val="C9B8A8"/>
                </a:solidFill>
              </a:rPr>
              <a:t/>
            </a:r>
          </a:p>
        </p:txBody>
      </p:sp>
      <p:sp>
        <p:nvSpPr>
          <p:cNvPr id="7" name="Rectangle 6"/>
          <p:cNvSpPr/>
          <p:nvPr/>
        </p:nvSpPr>
        <p:spPr>
          <a:xfrm>
            <a:off x="3425113" y="5120640"/>
            <a:ext cx="2556433" cy="1097280"/>
          </a:xfrm>
          <a:prstGeom prst="rect">
            <a:avLst/>
          </a:prstGeom>
          <a:solidFill>
            <a:srgbClr val="3A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3713" y="5303520"/>
            <a:ext cx="209923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702F"/>
                </a:solidFill>
              </a:rPr>
              <a:t>TOTAL COMPLETED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36</a:t>
            </a:r>
          </a:p>
          <a:p>
            <a:pPr algn="l"/>
            <a:r>
              <a:rPr sz="1200" b="0">
                <a:solidFill>
                  <a:srgbClr val="C9B8A8"/>
                </a:solidFill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210146" y="5120640"/>
            <a:ext cx="2556433" cy="1097280"/>
          </a:xfrm>
          <a:prstGeom prst="rect">
            <a:avLst/>
          </a:prstGeom>
          <a:solidFill>
            <a:srgbClr val="3A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8746" y="5303520"/>
            <a:ext cx="209923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702F"/>
                </a:solidFill>
              </a:rPr>
              <a:t>TOTAL INCOMPLETE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28</a:t>
            </a:r>
          </a:p>
          <a:p>
            <a:pPr algn="l"/>
            <a:r>
              <a:rPr sz="1200" b="0">
                <a:solidFill>
                  <a:srgbClr val="C9B8A8"/>
                </a:solidFill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8995179" y="5120640"/>
            <a:ext cx="2556433" cy="1097280"/>
          </a:xfrm>
          <a:prstGeom prst="rect">
            <a:avLst/>
          </a:prstGeom>
          <a:solidFill>
            <a:srgbClr val="3A24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79" y="5303520"/>
            <a:ext cx="209923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C9702F"/>
                </a:solidFill>
              </a:rPr>
              <a:t>COMPLETION RATE</a:t>
            </a:r>
          </a:p>
          <a:p>
            <a:pPr algn="l"/>
            <a:r>
              <a:rPr sz="4000" b="1">
                <a:solidFill>
                  <a:srgbClr val="FFFFFF"/>
                </a:solidFill>
              </a:rPr>
              <a:t>56.2%</a:t>
            </a:r>
          </a:p>
          <a:p>
            <a:pPr algn="l"/>
            <a:r>
              <a:rPr sz="1200" b="0">
                <a:solidFill>
                  <a:srgbClr val="C9B8A8"/>
                </a:solidFill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SPRINT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E1A0E"/>
                </a:solidFill>
              </a:rPr>
              <a:t>NEX Sprint 2 — Key Achievements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37360"/>
            <a:ext cx="3484778" cy="128016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3027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TICKETS COMPLETED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197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NEX Sprint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4353458" y="1737360"/>
            <a:ext cx="3484778" cy="128016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82058" y="1920240"/>
            <a:ext cx="3027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PROJECTS COVERED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1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Nexus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6836" y="1737360"/>
            <a:ext cx="3484778" cy="128016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95436" y="1920240"/>
            <a:ext cx="3027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531F"/>
                </a:solidFill>
              </a:rPr>
              <a:t>COMPLETION</a:t>
            </a:r>
          </a:p>
          <a:p>
            <a:pPr algn="l"/>
            <a:r>
              <a:rPr sz="4000" b="1">
                <a:solidFill>
                  <a:srgbClr val="2E1A0E"/>
                </a:solidFill>
              </a:rPr>
              <a:t>54.7%</a:t>
            </a:r>
          </a:p>
          <a:p>
            <a:pPr algn="l"/>
            <a:r>
              <a:rPr sz="1200" b="0">
                <a:solidFill>
                  <a:srgbClr val="8A6A54"/>
                </a:solidFill>
              </a:rPr>
              <a:t>of the sprint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91840"/>
            <a:ext cx="10911535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E1A0E"/>
                </a:solidFill>
              </a:rPr>
              <a:t>•  Hardened the Publications data pipeline — aligned PubMed/bioRxiv/Crossref queries to EuropePMC scoping and eliminated the bioRxiv drug-in-title matcher's ~99% false-positive rate, while fixing the journal/KOL classification flags and abstract/mesh-term coverage gaps.</a:t>
            </a:r>
          </a:p>
          <a:p>
            <a:pPr algn="l"/>
            <a:r>
              <a:rPr sz="1400" b="0">
                <a:solidFill>
                  <a:srgbClr val="2E1A0E"/>
                </a:solidFill>
              </a:rPr>
              <a:t>•  Restored KOL pipeline integrity — root-caused the 2026-06-22 nulled-matches regression, onboarded 5 previously inactive sources, and cleaned investigator name normalization.</a:t>
            </a:r>
          </a:p>
          <a:p>
            <a:pPr algn="l"/>
            <a:r>
              <a:rPr sz="1400" b="0">
                <a:solidFill>
                  <a:srgbClr val="2E1A0E"/>
                </a:solidFill>
              </a:rPr>
              <a:t>•  Cleaned entity and scope data across signals — de-contaminated the drug and gene/biomarker lists, corrected therapy-area source mapping, and shipped a shared rule-based noise-filtering tagger plus the signal-generator reference skill.</a:t>
            </a:r>
          </a:p>
          <a:p>
            <a:pPr algn="l"/>
            <a:r>
              <a:rPr sz="1400" b="0">
                <a:solidFill>
                  <a:srgbClr val="2E1A0E"/>
                </a:solidFill>
              </a:rPr>
              <a:t>•  Delivered Collector Intelligence table views end to end — table infrastructure, per-tab implementations, paginated export endpoints, and the Indication Registry overview with prefetch/navigation performance wins.</a:t>
            </a:r>
          </a:p>
          <a:p>
            <a:pPr algn="l"/>
            <a:r>
              <a:rPr sz="1400" b="0">
                <a:solidFill>
                  <a:srgbClr val="2E1A0E"/>
                </a:solidFill>
              </a:rPr>
              <a:t>•  Standardized the front-end design system — unified design tokens, page-shell components, dialogs, and cards/list items for a consistent UI.</a:t>
            </a:r>
          </a:p>
          <a:p>
            <a:pPr algn="l"/>
            <a:r>
              <a:rPr sz="1400" b="0">
                <a:solidFill>
                  <a:srgbClr val="2E1A0E"/>
                </a:solidFill>
              </a:rPr>
              <a:t>•  Shipped signals-read and list APIs for AlfaKinetic — a per-client x-api-key signals endpoint over the indication signal tables plus the indication/KOL/product/conference list endpoints.</a:t>
            </a:r>
          </a:p>
          <a:p>
            <a:pPr algn="l"/>
            <a:r>
              <a:rPr sz="1400" b="0">
                <a:solidFill>
                  <a:srgbClr val="2E1A0E"/>
                </a:solidFill>
              </a:rPr>
              <a:t>•  Improved test and collector reliability — fixed a time-bomb flaky test and evaluated the scrapling library for web-scraping collectors.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RISKS &amp; BLOCKERS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1153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2E1A0E"/>
                </a:solidFill>
              </a:rPr>
              <a:t>Roadblocks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3454298" cy="420624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088538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R01</a:t>
            </a:r>
          </a:p>
          <a:p>
            <a:pPr algn="l"/>
            <a:r>
              <a:rPr sz="1600" b="1">
                <a:solidFill>
                  <a:srgbClr val="2E1A0E"/>
                </a:solidFill>
              </a:rPr>
              <a:t>Publications work blocked</a:t>
            </a:r>
          </a:p>
          <a:p>
            <a:pPr algn="l"/>
            <a:r>
              <a:rPr sz="1100" b="0">
                <a:solidFill>
                  <a:srgbClr val="8A6A54"/>
                </a:solidFill>
              </a:rPr>
              <a:t>Impact: NEX-173 (pub_07) is blocked, stalling part of the publications collector track.</a:t>
            </a:r>
          </a:p>
          <a:p>
            <a:pPr algn="l"/>
            <a:r>
              <a:rPr sz="1100" b="0">
                <a:solidFill>
                  <a:srgbClr val="8A6A54"/>
                </a:solidFill>
              </a:rPr>
              <a:t>Mitigation: Resolve the upstream dependency and confirm requirements before it slips a second sprint.</a:t>
            </a:r>
          </a:p>
          <a:p>
            <a:pPr algn="l"/>
            <a:r>
              <a:rPr sz="1100" b="0">
                <a:solidFill>
                  <a:srgbClr val="8A6A54"/>
                </a:solidFill>
              </a:rPr>
              <a:t>Help needed: Data/product owner to clarify scope and unblock the dependency.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68698" y="1645920"/>
            <a:ext cx="3454298" cy="420624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1578" y="1783080"/>
            <a:ext cx="3088538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R02</a:t>
            </a:r>
          </a:p>
          <a:p>
            <a:pPr algn="l"/>
            <a:r>
              <a:rPr sz="1600" b="1">
                <a:solidFill>
                  <a:srgbClr val="2E1A0E"/>
                </a:solidFill>
              </a:rPr>
              <a:t>High carry-over into Sprint 3</a:t>
            </a:r>
          </a:p>
          <a:p>
            <a:pPr algn="l"/>
            <a:r>
              <a:rPr sz="1100" b="0">
                <a:solidFill>
                  <a:srgbClr val="8A6A54"/>
                </a:solidFill>
              </a:rPr>
              <a:t>Impact: 154 tickets carried over against 197 completed (~55% completion); Sprint 3 opens at 395 committed, risking a compounding backlog.</a:t>
            </a:r>
          </a:p>
          <a:p>
            <a:pPr algn="l"/>
            <a:r>
              <a:rPr sz="1100" b="0">
                <a:solidFill>
                  <a:srgbClr val="8A6A54"/>
                </a:solidFill>
              </a:rPr>
              <a:t>Mitigation: Triage carry-over on day one, descope non-critical items, and cap WIP per engineer.</a:t>
            </a:r>
          </a:p>
          <a:p>
            <a:pPr algn="l"/>
            <a:r>
              <a:rPr sz="1100" b="0">
                <a:solidFill>
                  <a:srgbClr val="8A6A54"/>
                </a:solidFill>
              </a:rPr>
              <a:t>Help needed: Product to re-prioritize and formally descope the Sprint 3 commitment.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97316" y="1645920"/>
            <a:ext cx="3454298" cy="4206240"/>
          </a:xfrm>
          <a:prstGeom prst="rect">
            <a:avLst/>
          </a:prstGeom>
          <a:solidFill>
            <a:srgbClr val="F7E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80196" y="1783080"/>
            <a:ext cx="3088538" cy="3931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5531F"/>
                </a:solidFill>
              </a:rPr>
              <a:t>R03</a:t>
            </a:r>
          </a:p>
          <a:p>
            <a:pPr algn="l"/>
            <a:r>
              <a:rPr sz="1600" b="1">
                <a:solidFill>
                  <a:srgbClr val="2E1A0E"/>
                </a:solidFill>
              </a:rPr>
              <a:t>Work and completion concentrated unevenly</a:t>
            </a:r>
          </a:p>
          <a:p>
            <a:pPr algn="l"/>
            <a:r>
              <a:rPr sz="1100" b="0">
                <a:solidFill>
                  <a:srgbClr val="8A6A54"/>
                </a:solidFill>
              </a:rPr>
              <a:t>Impact: Most pipeline delivery sat with one engineer while others closed 3/11 and 6/15 of their tickets — a bottleneck and bus-factor risk.</a:t>
            </a:r>
          </a:p>
          <a:p>
            <a:pPr algn="l"/>
            <a:r>
              <a:rPr sz="1100" b="0">
                <a:solidFill>
                  <a:srgbClr val="8A6A54"/>
                </a:solidFill>
              </a:rPr>
              <a:t>Mitigation: Rebalance assignments, pair on stuck tickets, and spread pipeline knowledge.</a:t>
            </a:r>
          </a:p>
          <a:p>
            <a:pPr algn="l"/>
            <a:r>
              <a:rPr sz="1100" b="0">
                <a:solidFill>
                  <a:srgbClr val="8A6A54"/>
                </a:solidFill>
              </a:rPr>
              <a:t>Help needed: Leadership input on staffing and load balancing.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1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1153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C9702F"/>
                </a:solidFill>
              </a:rPr>
              <a:t>ANERVEA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91153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Engineering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1091153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C9702F"/>
                </a:solidFill>
              </a:rPr>
              <a:t>DISTRIBUTION</a:t>
            </a:r>
          </a:p>
          <a:p>
            <a:pPr algn="l"/>
            <a:r>
              <a:rPr sz="1400" b="0">
                <a:solidFill>
                  <a:srgbClr val="D8C8BA"/>
                </a:solidFill>
              </a:rPr>
              <a:t>Engineering Team · Product Lead · CTO · QA · DevOps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C9B8A8"/>
                </a:solidFill>
              </a:rPr>
              <a:t>Generated from Jira · 09 July 2026 · Confidential — not for external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